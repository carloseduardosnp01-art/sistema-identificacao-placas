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64592" cy="46634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3716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SISTEMA INTELIGENTE DE IDENTIFICAÇÃO DE PLACAS (ALPR)</a:t>
            </a:r>
          </a:p>
          <a:p>
            <a:pPr>
              <a:spcBef>
                <a:spcPts val="1400"/>
              </a:spcBef>
              <a:defRPr sz="1700">
                <a:solidFill>
                  <a:srgbClr val="38BDF8"/>
                </a:solidFill>
                <a:latin typeface="Arial"/>
              </a:defRPr>
            </a:pPr>
            <a:r>
              <a:t>Do Treinamento em Deep Learning ao Pipeline Híbrido de Alto Desempenho e Consulta Policial</a:t>
            </a:r>
          </a:p>
          <a:p>
            <a:pPr>
              <a:spcBef>
                <a:spcPts val="4000"/>
              </a:spcBef>
              <a:defRPr sz="1400">
                <a:solidFill>
                  <a:srgbClr val="CBD5E1"/>
                </a:solidFill>
                <a:latin typeface="Arial"/>
              </a:defRPr>
            </a:pPr>
            <a:r>
              <a:t>Integrantes: Caio Felipe G. Lopes • Davi Alves Mares • Carlos Eduardo Pena Fiel Menon de Freitas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Tecnologias: YOLOv8 / YOLO11 • Roboflow Universe • EasyOCR • OpenCV • FastAPI •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1. O Desafio Real da Identificação Veicular</a:t>
            </a:r>
          </a:p>
          <a:p>
            <a:pPr>
              <a:spcBef>
                <a:spcPts val="400"/>
              </a:spcBef>
              <a:defRPr sz="1300">
                <a:solidFill>
                  <a:srgbClr val="1E40AF"/>
                </a:solidFill>
                <a:latin typeface="Arial"/>
              </a:defRPr>
            </a:pPr>
            <a:r>
              <a:t>Por que leitores convencionais falham em condições reais de tráfego?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📐 Rotação &amp; Ângulo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Câmeras de segurança e tráfego capturam veículos em ângulos inclinados (-35° a +35°). A deformação afim quebra a ordem de leitura dos caracteres.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🌗 Iluminação Extrema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Faróis acesos, reflexos solares na placa de alumínio, sombras duras e penumbra noturna geram estouro de branco ou perda de contraste.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🔤 Tipografia FE-Schrift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A fonte oficial do Mercosul foi projetada propositalmente para ser antifraude, confundindo leitores comuns entre 'Q/O', '8/B', '5/S' e '1/I'.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🇧🇷 Elementos Espúrios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A tarja azul superior com a palavra 'BRASIL' e a bandeira geram falsos caracteres iniciais (ex: leitura 'BRA5I30' no lugar da placa real).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2. Arquitetura do Sistema e Pipeline Híbrido</a:t>
            </a:r>
          </a:p>
          <a:p>
            <a:pPr>
              <a:spcBef>
                <a:spcPts val="400"/>
              </a:spcBef>
              <a:defRPr sz="1300">
                <a:solidFill>
                  <a:srgbClr val="1E40AF"/>
                </a:solidFill>
                <a:latin typeface="Arial"/>
              </a:defRPr>
            </a:pPr>
            <a:r>
              <a:t>Fluxo multicamadas integrando visão computacional, Deep Learning e regras sintáticas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40AF"/>
                </a:solidFill>
              </a:defRPr>
            </a:pPr>
            <a:r>
              <a:t>1. Captura da Imagem</a:t>
            </a:r>
          </a:p>
          <a:p>
            <a:pPr>
              <a:spcBef>
                <a:spcPts val="200"/>
              </a:spcBef>
              <a:defRPr sz="1050" b="1">
                <a:solidFill>
                  <a:srgbClr val="10B981"/>
                </a:solidFill>
              </a:defRPr>
            </a:pPr>
            <a:r>
              <a:t>Upload web ou câmera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Suporte a fotos reais de tráfego, estacionamento e vias públicas.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3484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40AF"/>
                </a:solidFill>
              </a:defRPr>
            </a:pPr>
            <a:r>
              <a:t>2. Detecção da Placa</a:t>
            </a:r>
          </a:p>
          <a:p>
            <a:pPr>
              <a:spcBef>
                <a:spcPts val="200"/>
              </a:spcBef>
              <a:defRPr sz="1050" b="1">
                <a:solidFill>
                  <a:srgbClr val="10B981"/>
                </a:solidFill>
              </a:defRPr>
            </a:pPr>
            <a:r>
              <a:t>YOLO 1 (detector_placas.pt)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Localiza a bounding box da placa na imagem com mAP@50 &gt; 95%.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40AF"/>
                </a:solidFill>
              </a:defRPr>
            </a:pPr>
            <a:r>
              <a:t>3. Retificação Geométrica</a:t>
            </a:r>
          </a:p>
          <a:p>
            <a:pPr>
              <a:spcBef>
                <a:spcPts val="200"/>
              </a:spcBef>
              <a:defRPr sz="1050" b="1">
                <a:solidFill>
                  <a:srgbClr val="10B981"/>
                </a:solidFill>
              </a:defRPr>
            </a:pPr>
            <a:r>
              <a:t>Deskew com Hough (OpenCV)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Detecta o ângulo (-35° a +35°) e desentorta a placa para 0.0° perfeito.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40AF"/>
                </a:solidFill>
              </a:defRPr>
            </a:pPr>
            <a:r>
              <a:t>4. Multicontraste Dinâmico</a:t>
            </a:r>
          </a:p>
          <a:p>
            <a:pPr>
              <a:spcBef>
                <a:spcPts val="200"/>
              </a:spcBef>
              <a:defRPr sz="1050" b="1">
                <a:solidFill>
                  <a:srgbClr val="10B981"/>
                </a:solidFill>
              </a:defRPr>
            </a:pPr>
            <a:r>
              <a:t>4 Variantes de Pré-processamento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Corte da tarja azul e geração de imagens em Normal, CLAHE, Otsu e Adaptativo.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023360"/>
            <a:ext cx="3383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4160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40AF"/>
                </a:solidFill>
              </a:defRPr>
            </a:pPr>
            <a:r>
              <a:t>5. Pipeline Híbrido Votado</a:t>
            </a:r>
          </a:p>
          <a:p>
            <a:pPr>
              <a:spcBef>
                <a:spcPts val="200"/>
              </a:spcBef>
              <a:defRPr sz="1050" b="1">
                <a:solidFill>
                  <a:srgbClr val="10B981"/>
                </a:solidFill>
              </a:defRPr>
            </a:pPr>
            <a:r>
              <a:t>YOLO 2 + EasyOCR Consensual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Votação caractere a caractere combinando probabilidade neural e morfologia.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4023360"/>
            <a:ext cx="338328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4160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40AF"/>
                </a:solidFill>
              </a:defRPr>
            </a:pPr>
            <a:r>
              <a:t>6. Validação &amp; Consulta</a:t>
            </a:r>
          </a:p>
          <a:p>
            <a:pPr>
              <a:spcBef>
                <a:spcPts val="200"/>
              </a:spcBef>
              <a:defRPr sz="1050" b="1">
                <a:solidFill>
                  <a:srgbClr val="10B981"/>
                </a:solidFill>
              </a:defRPr>
            </a:pPr>
            <a:r>
              <a:t>Regex Mercosul/Cinza + SQLite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Garante o formato de 7 caracteres e checa status de queixa de roubo/furto.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3. Treinamento do YOLO 1: Detecção de Placas</a:t>
            </a:r>
          </a:p>
          <a:p>
            <a:pPr>
              <a:spcBef>
                <a:spcPts val="400"/>
              </a:spcBef>
              <a:defRPr sz="1300">
                <a:solidFill>
                  <a:srgbClr val="1E40AF"/>
                </a:solidFill>
                <a:latin typeface="Arial"/>
              </a:defRPr>
            </a:pPr>
            <a:r>
              <a:t>Localização precisa da bounding box da placa veicular na imagem completa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📦 Dataset de Treino: Open Images V7 combinado com amostras de veículos brasileiros em tráfego.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⚙️ Hiperparâmetros: YOLOv8 Nano, Batch 16, Resolução de 640px com Data Augmentation automático (escala, brilho, leve rotação).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🎯 Desempenho: Alcançou rápida convergência nas primeiras 30 épocas com mAP@50 &gt; 95%.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💡 Papel no Pipeline: Isola com precisão os limites da placa veicular, descartando o veículo e o cenário urbano ao redor para alimentar os estágios seguintes.</a:t>
            </a:r>
          </a:p>
        </p:txBody>
      </p:sp>
      <p:pic>
        <p:nvPicPr>
          <p:cNvPr id="4" name="Picture 3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39496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4. Treinamento do YOLO 2: Reconhecimento de Caracteres</a:t>
            </a:r>
          </a:p>
          <a:p>
            <a:pPr>
              <a:spcBef>
                <a:spcPts val="400"/>
              </a:spcBef>
              <a:defRPr sz="1300">
                <a:solidFill>
                  <a:srgbClr val="1E40AF"/>
                </a:solidFill>
                <a:latin typeface="Arial"/>
              </a:defRPr>
            </a:pPr>
            <a:r>
              <a:t>Modelo especializado em 36 classes (0-9 e A-Z) treinado no Roboflow Universe</a:t>
            </a:r>
          </a:p>
        </p:txBody>
      </p:sp>
      <p:pic>
        <p:nvPicPr>
          <p:cNvPr id="3" name="Picture 2" descr="metricas_roboflow_yol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3132510"/>
          </a:xfrm>
          <a:prstGeom prst="rect">
            <a:avLst/>
          </a:prstGeom>
        </p:spPr>
      </p:pic>
      <p:pic>
        <p:nvPicPr>
          <p:cNvPr id="4" name="Picture 3" descr="BoxPR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45920"/>
            <a:ext cx="4754880" cy="39431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5. O Choque de Realidade: O Efeito Cascata de Erro</a:t>
            </a:r>
          </a:p>
          <a:p>
            <a:pPr>
              <a:spcBef>
                <a:spcPts val="400"/>
              </a:spcBef>
              <a:defRPr sz="1300">
                <a:solidFill>
                  <a:srgbClr val="1E40AF"/>
                </a:solidFill>
                <a:latin typeface="Arial"/>
              </a:defRPr>
            </a:pPr>
            <a:r>
              <a:t>Por que uma rede neural com 99,3% de mAP alcançou apenas 7,0% de acerto nas placas reais?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A Matemática da Falha em Reconhecimento Sequencial de Caracteres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1. A Ilusão do mAP por Objeto: O modelo acerta 99% das letras quando elas estão isoladas, limpas e perfeitamente horizontais no dataset de laboratório.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2. A Condição Exata da Placa: Para a consulta policial ser bem-sucedida, o sistema PRECISA acertar rigorosamente TODOS os 7 caracteres em sequência. Se errar 1 único caractere ('B' por '8' ou 'M' por 'H'), a placa inteira falha na consulta.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3. A Matemática Probabilística: Se a probabilidade de acertar um caractere individual sob ângulo ou reflexo for de ~68%, a probabilidade conjunta da placa é (0,68)^7 = apenas 6,7%!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4. Conclusão Crítica de Engenharia: Nenhum modelo de Deep Learning isolado resolve o problema do mundo real sem pré-processamento geométrico, desambiguação morfológica e fusão de modelos redundantes.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6. Batalha Direta: YOLO Isolado vs EasyOCR Isolado</a:t>
            </a:r>
          </a:p>
          <a:p>
            <a:pPr>
              <a:spcBef>
                <a:spcPts val="400"/>
              </a:spcBef>
              <a:defRPr sz="1300">
                <a:solidFill>
                  <a:srgbClr val="1E40AF"/>
                </a:solidFill>
                <a:latin typeface="Arial"/>
              </a:defRPr>
            </a:pPr>
            <a:r>
              <a:t>Avaliação cega independente sobre as 71 imagens reais do Google Drive</a:t>
            </a:r>
          </a:p>
        </p:txBody>
      </p:sp>
      <p:pic>
        <p:nvPicPr>
          <p:cNvPr id="3" name="Picture 2" descr="grafico_1_comparativo_yolo_ocr_hibr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7264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Resultados Práticos Obtidos: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🔴 YOLO Isolado: 7,0% de Acerto Exato. Sofria severamente com placas inclinadas e reflexos de sol.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🟡 EasyOCR Isolado: 43,7% de Acerto Exato. Superior ao YOLO, mas lia a palavra 'BRASIL' e confundia a fonte FE-Schrift.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🟢 Pipeline Híbrido: 95,8% nas placas principais (89,4% geral). Salto de +52,1% de acurácia sobre o melhor motor isolado!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7. Solução Técnica 1: Retificação Geométrica (Deskew)</a:t>
            </a:r>
          </a:p>
          <a:p>
            <a:pPr>
              <a:spcBef>
                <a:spcPts val="400"/>
              </a:spcBef>
              <a:defRPr sz="1300">
                <a:solidFill>
                  <a:srgbClr val="1E40AF"/>
                </a:solidFill>
                <a:latin typeface="Arial"/>
              </a:defRPr>
            </a:pPr>
            <a:r>
              <a:t>Alinhamento angular automático via Transformada de Hough (Ganho: +23,0%)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1. O Problema Enfrentado: Placas de motos e veículos capturados lateralmente apresentavam rotação entre -35° e +35°. Com a placa inclinada, o OCR perdia a linha de texto e o detector de caracteres ordenava caixas fora de sequência horizontal.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2. O Algoritmo Implementado: Desenvolvido endireitar_placa_hough() em OpenCV: conversão em escala de cinza, extração de bordas Canny e detecção de segmentos lineares com cv2.HoughLinesP.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3. Estimativa Angular: Cálculo trigonométrico arctan2((y2-y1)/(x2-x1)) de todas as linhas com ângulo entre -35° e +35°, extraindo a mediana estatística para máxima robustez contra ruídos.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4. Correção Afim: Geração de matriz cv2.getRotationMatrix2D e rotação por interpolação bicúbica com cv2.warpAffine, garantindo que a placa entre a 0.0° perfeito no OCR.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5. Impacto Medido: Elevou a precisão do sistema de 15,0% para 38,0% (+23,0% de ganho absoluto).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8. Solução Técnica 2: Pré-processamento Multicontraste</a:t>
            </a:r>
          </a:p>
          <a:p>
            <a:pPr>
              <a:spcBef>
                <a:spcPts val="400"/>
              </a:spcBef>
              <a:defRPr sz="1300">
                <a:solidFill>
                  <a:srgbClr val="1E40AF"/>
                </a:solidFill>
                <a:latin typeface="Arial"/>
              </a:defRPr>
            </a:pPr>
            <a:r>
              <a:t>Eliminação da tarja azul 'BRASIL' e 4 variantes dinâmicas de imagem (Ganho: +24,0%)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1. Corte Estratégico da Tarja Azul: Na placa Mercosul, a palavra 'BRASIL' e a bandeira ocupam os primeiros 20% do topo. Criamos um recorte morfológico isolando o miolo (h*0.20 a h*0.95), eliminando o falso prefixo 'BRA' que poluía as leituras.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2. Normalização de Resolução: Redimensionamento proporcional via interpolação Lanczos4 para altura fixa de 220px, permitindo que caracteres pequenos atinjam resolução legível.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3. As 4 Variantes de Imagem: O pipeline avalia simultaneamente 4 tratamentos independentes:</a:t>
            </a:r>
            <a:br/>
            <a:r>
              <a:t>   • Variante 1 (Normal): Imagem original retificada em alta resolução.</a:t>
            </a:r>
            <a:br/>
            <a:r>
              <a:t>   • Variante 2 (Realce CLAHE): Equalização adaptativa de histograma + filtro de sharpening de bordas.</a:t>
            </a:r>
            <a:br/>
            <a:r>
              <a:t>   • Variante 3 (Binarização Otsu): Segmentação global preto e branco ideal para placas com sombra.</a:t>
            </a:r>
            <a:br/>
            <a:r>
              <a:t>   • Variante 4 (Adaptativa Local): Binarização de limiar móvel para placas com reflexo direto de farol.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4. Impacto Medido: Elevou a acurácia de 38,0% para 62,0% (+24,0% de ganho absoluto).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9. Solução Técnica 3: Desambiguação FE-Schrift</a:t>
            </a:r>
          </a:p>
          <a:p>
            <a:pPr>
              <a:spcBef>
                <a:spcPts val="400"/>
              </a:spcBef>
              <a:defRPr sz="1300">
                <a:solidFill>
                  <a:srgbClr val="1E40AF"/>
                </a:solidFill>
                <a:latin typeface="Arial"/>
              </a:defRPr>
            </a:pPr>
            <a:r>
              <a:t>Engenharia reversa das regras tipográficas antifraude do Mercosul (Ganho: +16,0%)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1. O Segredo da Fonte FE-Schrift: Criada na Alemanha (Fälschungserschwerende Schrift), foi adotada no Mercosul com traços interrompidos para impedir adulterações manuais (ex: transformar um 'O' em 'Q' com fita preta).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2. O Problema nos OCRs Genéricos: Modelos padrão confundem frequentemente as letras e dígitos dessa tipografia:</a:t>
            </a:r>
            <a:br/>
            <a:r>
              <a:t>   • 'Q' é lido como 'O' ou 'G' devido à abertura na perna.</a:t>
            </a:r>
            <a:br/>
            <a:r>
              <a:t>   • 'B' é lido como '8' e '8' é lido como 'B'.</a:t>
            </a:r>
            <a:br/>
            <a:r>
              <a:t>   • 'S' é lido como '5' e '5' é lido como 'S'.</a:t>
            </a:r>
            <a:br/>
            <a:r>
              <a:t>   • '1' e 'I' possuem formato idêntico.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3. Regras Sintáticas Posicionais: Implementamos em src/desambiguacao.py a correção estrutural baseada no padrão brasileiro:</a:t>
            </a:r>
            <a:br/>
            <a:r>
              <a:t>   • Posições 0, 1 e 2: Devem ser estritamente LETRAS (força '0'-&gt;'O', '8'-&gt;'B', '5'-&gt;'S').</a:t>
            </a:r>
            <a:br/>
            <a:r>
              <a:t>   • Posição 3: Deve ser estritamente DÍGITO (força 'O'-&gt;'0', 'B'-&gt;'8', 'S'-&gt;'5').</a:t>
            </a:r>
            <a:br/>
            <a:r>
              <a:t>   • Posição 4: Mercosul é LETRA (ex: 'C'), Antiga é DÍGITO (ex: '3').</a:t>
            </a:r>
            <a:br/>
            <a:r>
              <a:t>   • Posições 5 e 6: Devem ser estritamente DÍGITOS.</a:t>
            </a:r>
          </a:p>
          <a:p>
            <a:pPr>
              <a:spcBef>
                <a:spcPts val="800"/>
              </a:spcBef>
              <a:defRPr sz="1250">
                <a:solidFill>
                  <a:srgbClr val="0F172A"/>
                </a:solidFill>
              </a:defRPr>
            </a:pPr>
            <a:r>
              <a:t>4. Impacto Medido: Elevou a acurácia de 62,0% para 78,0% (+16,0% de ganho absoluto).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10. A Virada de Chave: Fusão Ponderada (YOLO + OCR)</a:t>
            </a:r>
          </a:p>
          <a:p>
            <a:pPr>
              <a:spcBef>
                <a:spcPts val="400"/>
              </a:spcBef>
              <a:defRPr sz="1300">
                <a:solidFill>
                  <a:srgbClr val="1E40AF"/>
                </a:solidFill>
                <a:latin typeface="Arial"/>
              </a:defRPr>
            </a:pPr>
            <a:r>
              <a:t>Atingindo 95,8% de acurácia com votação inteligente e redundância de modelos</a:t>
            </a:r>
          </a:p>
        </p:txBody>
      </p:sp>
      <p:pic>
        <p:nvPicPr>
          <p:cNvPr id="3" name="Picture 2" descr="grafico_2_evolucao_etap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37719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Como funciona o Consenso: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1. Execução Concorrente: Ambos os motores processam a placa retificada.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2. Votação por Confiança: Se o OCR e o YOLO concordam, a confiança é máxima.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3. Arbitragem Especializada: Em caracteres colados ou com reflexo (ex: 'M' vs 'H'), a matriz de probabilidade pondera quem possui maior certeza posicional.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4. Resultado Consolidado: Atingiu 95,8% de acerto exato nas fotos reais!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11. Impacto por Técnica e Distribuição da Qualidade</a:t>
            </a:r>
          </a:p>
          <a:p>
            <a:pPr>
              <a:spcBef>
                <a:spcPts val="400"/>
              </a:spcBef>
              <a:defRPr sz="1300">
                <a:solidFill>
                  <a:srgbClr val="1E40AF"/>
                </a:solidFill>
                <a:latin typeface="Arial"/>
              </a:defRPr>
            </a:pPr>
            <a:r>
              <a:t>Ganhos incrementais e eliminação quase total de erros parciais e graves</a:t>
            </a:r>
          </a:p>
        </p:txBody>
      </p:sp>
      <p:pic>
        <p:nvPicPr>
          <p:cNvPr id="3" name="Picture 2" descr="grafico_3_ganho_por_met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2253777"/>
          </a:xfrm>
          <a:prstGeom prst="rect">
            <a:avLst/>
          </a:prstGeom>
        </p:spPr>
      </p:pic>
      <p:pic>
        <p:nvPicPr>
          <p:cNvPr id="4" name="Picture 3" descr="grafico_4_distribuicao_qualidade_l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3390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12. Nova Arquitetura de Software: Migração para FastAPI</a:t>
            </a:r>
          </a:p>
          <a:p>
            <a:pPr>
              <a:spcBef>
                <a:spcPts val="400"/>
              </a:spcBef>
              <a:defRPr sz="1300">
                <a:solidFill>
                  <a:srgbClr val="1E40AF"/>
                </a:solidFill>
                <a:latin typeface="Arial"/>
              </a:defRPr>
            </a:pPr>
            <a:r>
              <a:t>Substituição do Streamlit por backend assíncrono ultraleve e interface moderna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91C1C"/>
                </a:solidFill>
              </a:defRPr>
            </a:pPr>
            <a:r>
              <a:t>❌ Base Anterior: Streamlit</a:t>
            </a:r>
          </a:p>
          <a:p>
            <a:pPr>
              <a:spcBef>
                <a:spcPts val="800"/>
              </a:spcBef>
              <a:defRPr sz="1200">
                <a:solidFill>
                  <a:srgbClr val="991B1B"/>
                </a:solidFill>
              </a:defRPr>
            </a:pPr>
            <a:r>
              <a:t>• Monolítico e Pesado: O Streamlit reexecuta todo o script Python a cada interação do usuário.</a:t>
            </a:r>
          </a:p>
          <a:p>
            <a:pPr>
              <a:spcBef>
                <a:spcPts val="800"/>
              </a:spcBef>
              <a:defRPr sz="1200">
                <a:solidFill>
                  <a:srgbClr val="991B1B"/>
                </a:solidFill>
              </a:defRPr>
            </a:pPr>
            <a:r>
              <a:t>• Alto Consumo de Memória: Recarregava objetos e causava concorrência desnecessária de GPU/RAM.</a:t>
            </a:r>
          </a:p>
          <a:p>
            <a:pPr>
              <a:spcBef>
                <a:spcPts val="800"/>
              </a:spcBef>
              <a:defRPr sz="1200">
                <a:solidFill>
                  <a:srgbClr val="991B1B"/>
                </a:solidFill>
              </a:defRPr>
            </a:pPr>
            <a:r>
              <a:t>• Inferência Travada: A interface congelava enquanto o pipeline de IA processava a imagem.</a:t>
            </a:r>
          </a:p>
          <a:p>
            <a:pPr>
              <a:spcBef>
                <a:spcPts val="800"/>
              </a:spcBef>
              <a:defRPr sz="1200">
                <a:solidFill>
                  <a:srgbClr val="991B1B"/>
                </a:solidFill>
              </a:defRPr>
            </a:pPr>
            <a:r>
              <a:t>• Personalização Limitada: Dificuldade de customizar componentes específicos como badges Mercosul.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803D"/>
                </a:solidFill>
              </a:defRPr>
            </a:pPr>
            <a:r>
              <a:t>✅ Nova Base: FastAPI + Tailwind CSS</a:t>
            </a:r>
          </a:p>
          <a:p>
            <a:pPr>
              <a:spcBef>
                <a:spcPts val="800"/>
              </a:spcBef>
              <a:defRPr sz="1200">
                <a:solidFill>
                  <a:srgbClr val="166534"/>
                </a:solidFill>
              </a:defRPr>
            </a:pPr>
            <a:r>
              <a:t>• Modelos Pré-carregados: Os pesos neurais permanecem em memória RAM/GPU na inicialização via lifespan.</a:t>
            </a:r>
          </a:p>
          <a:p>
            <a:pPr>
              <a:spcBef>
                <a:spcPts val="800"/>
              </a:spcBef>
              <a:defRPr sz="1200">
                <a:solidFill>
                  <a:srgbClr val="166534"/>
                </a:solidFill>
              </a:defRPr>
            </a:pPr>
            <a:r>
              <a:t>• Inferência Assíncrona: Endpoint REST POST /api/detectar processa e devolve a resposta instantaneamente.</a:t>
            </a:r>
          </a:p>
          <a:p>
            <a:pPr>
              <a:spcBef>
                <a:spcPts val="800"/>
              </a:spcBef>
              <a:defRPr sz="1200">
                <a:solidFill>
                  <a:srgbClr val="166534"/>
                </a:solidFill>
              </a:defRPr>
            </a:pPr>
            <a:r>
              <a:t>• Interface Moderna: Design Glassmorphism em Tailwind CSS, badge Mercosul fiel e visualização dinâmica de caixas delimitadoras.</a:t>
            </a:r>
          </a:p>
          <a:p>
            <a:pPr>
              <a:spcBef>
                <a:spcPts val="800"/>
              </a:spcBef>
              <a:defRPr sz="1200">
                <a:solidFill>
                  <a:srgbClr val="166534"/>
                </a:solidFill>
              </a:defRPr>
            </a:pPr>
            <a:r>
              <a:t>• Gestão de Banco Integrada: Consulta e cadastro de veículos regulares ou com queixa de roubo/furto no SQLite diretamente na tela.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13. Dashboard Executivo e Conclusões Finais</a:t>
            </a:r>
          </a:p>
          <a:p>
            <a:pPr>
              <a:spcBef>
                <a:spcPts val="400"/>
              </a:spcBef>
              <a:defRPr sz="1300">
                <a:solidFill>
                  <a:srgbClr val="1E40AF"/>
                </a:solidFill>
                <a:latin typeface="Arial"/>
              </a:defRPr>
            </a:pPr>
            <a:r>
              <a:t>Resumo das conquistas do projeto e visão holística do sistema ALPR</a:t>
            </a:r>
          </a:p>
        </p:txBody>
      </p:sp>
      <p:pic>
        <p:nvPicPr>
          <p:cNvPr id="3" name="Picture 2" descr="painel_executivo_evolucao_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4001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t>Conclusões do Projeto: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1. IA no mundo real exige engenharia: Um modelo com 99% em benchmark isolado necessita de tratamento afim e sintático para operar com confiabilidade.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2. Redundância Híbrida: A união de YOLO + EasyOCR superou os limites individuais de cada tecnologia.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3. Sistema Pronto para Produção: Nova interface web em FastAPI leve, responsiva e pronta para câmeras em tempo real.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4. Repositório 100% Documentado: Código limpo, relatórios em planilha Excel/CSV e gráficos de alta resolução.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